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ukta Light" panose="020B0604020202020204" charset="0"/>
      <p:regular r:id="rId13"/>
    </p:embeddedFont>
    <p:embeddedFont>
      <p:font typeface="Prompt Light" panose="00000400000000000000" pitchFamily="2" charset="-34"/>
      <p:regular r:id="rId14"/>
    </p:embeddedFont>
    <p:embeddedFont>
      <p:font typeface="Prompt Medium" panose="00000600000000000000" pitchFamily="2" charset="-3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98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2985135"/>
            <a:ext cx="7381875" cy="122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Churn Analysis Dashboard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67462" y="4539496"/>
            <a:ext cx="73818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comprehensive data-driven investigation into customer retention patterns across 10,000 banking customers</a:t>
            </a: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6DD18D-790A-8ABE-A187-003AE2CB0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8507" y="7778008"/>
            <a:ext cx="1761893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105" y="543878"/>
            <a:ext cx="7348776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Executive Summary: The Churn Challenge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7105" y="1252299"/>
            <a:ext cx="7849791" cy="533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10K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673197" y="1955959"/>
            <a:ext cx="1797487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7105" y="2251829"/>
            <a:ext cx="7849791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Base population analyzed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7105" y="2794635"/>
            <a:ext cx="7849791" cy="533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51%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673197" y="3498294"/>
            <a:ext cx="1797487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Active Members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7105" y="3794165"/>
            <a:ext cx="7849791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Current engagement level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7105" y="4336971"/>
            <a:ext cx="7849791" cy="533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20.37%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673197" y="5040630"/>
            <a:ext cx="1797487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7105" y="5336500"/>
            <a:ext cx="7849791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Customers leaving annually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7105" y="5879306"/>
            <a:ext cx="7849791" cy="533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650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3673197" y="6582966"/>
            <a:ext cx="1797487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Avg Credit Score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7105" y="6878836"/>
            <a:ext cx="7849791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Mid-credit segment focus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7105" y="7236857"/>
            <a:ext cx="7849791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bank is experiencing </a:t>
            </a:r>
            <a:r>
              <a:rPr lang="en-US" sz="12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 churn</a:t>
            </a: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especially among long-tenure customers, mid-credit segments, and multi-product users, indicating gaps in retention, engagement, and value delivery.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2456" y="638175"/>
            <a:ext cx="7491889" cy="1147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Tenure Analysis: The Long-Term Disengagement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544747" y="2075855"/>
            <a:ext cx="22860" cy="4337209"/>
          </a:xfrm>
          <a:prstGeom prst="roundRect">
            <a:avLst>
              <a:gd name="adj" fmla="val 379446"/>
            </a:avLst>
          </a:prstGeom>
          <a:solidFill>
            <a:srgbClr val="6D4562"/>
          </a:solidFill>
          <a:ln/>
        </p:spPr>
      </p:sp>
      <p:sp>
        <p:nvSpPr>
          <p:cNvPr id="5" name="Shape 2"/>
          <p:cNvSpPr/>
          <p:nvPr/>
        </p:nvSpPr>
        <p:spPr>
          <a:xfrm>
            <a:off x="6754178" y="2296716"/>
            <a:ext cx="619482" cy="22860"/>
          </a:xfrm>
          <a:prstGeom prst="roundRect">
            <a:avLst>
              <a:gd name="adj" fmla="val 379446"/>
            </a:avLst>
          </a:prstGeom>
          <a:solidFill>
            <a:srgbClr val="6D4562"/>
          </a:solidFill>
          <a:ln/>
        </p:spPr>
      </p:sp>
      <p:sp>
        <p:nvSpPr>
          <p:cNvPr id="6" name="Shape 3"/>
          <p:cNvSpPr/>
          <p:nvPr/>
        </p:nvSpPr>
        <p:spPr>
          <a:xfrm>
            <a:off x="6312456" y="2075855"/>
            <a:ext cx="464582" cy="464582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7110" y="2136041"/>
            <a:ext cx="275273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577376" y="2146816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0-3 Years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77376" y="2549604"/>
            <a:ext cx="6226969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 churn - initial engagement phase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54178" y="3477816"/>
            <a:ext cx="619482" cy="22860"/>
          </a:xfrm>
          <a:prstGeom prst="roundRect">
            <a:avLst>
              <a:gd name="adj" fmla="val 379446"/>
            </a:avLst>
          </a:prstGeom>
          <a:solidFill>
            <a:srgbClr val="6D4562"/>
          </a:solidFill>
          <a:ln/>
        </p:spPr>
      </p:sp>
      <p:sp>
        <p:nvSpPr>
          <p:cNvPr id="11" name="Shape 8"/>
          <p:cNvSpPr/>
          <p:nvPr/>
        </p:nvSpPr>
        <p:spPr>
          <a:xfrm>
            <a:off x="6312456" y="3256955"/>
            <a:ext cx="464582" cy="464582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7110" y="3317141"/>
            <a:ext cx="275273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7577376" y="3327916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3-7 Years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577376" y="3730704"/>
            <a:ext cx="6226969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Gradual increase - growing dissatisfaction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54178" y="4658916"/>
            <a:ext cx="619482" cy="22860"/>
          </a:xfrm>
          <a:prstGeom prst="roundRect">
            <a:avLst>
              <a:gd name="adj" fmla="val 379446"/>
            </a:avLst>
          </a:prstGeom>
          <a:solidFill>
            <a:srgbClr val="6D4562"/>
          </a:solidFill>
          <a:ln/>
        </p:spPr>
      </p:sp>
      <p:sp>
        <p:nvSpPr>
          <p:cNvPr id="16" name="Shape 13"/>
          <p:cNvSpPr/>
          <p:nvPr/>
        </p:nvSpPr>
        <p:spPr>
          <a:xfrm>
            <a:off x="6312456" y="4438055"/>
            <a:ext cx="464582" cy="464582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7110" y="4498241"/>
            <a:ext cx="275273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7577376" y="4509016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7-10 Years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577376" y="4911804"/>
            <a:ext cx="6226969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Peak churn - critical retention window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54178" y="5840016"/>
            <a:ext cx="619482" cy="22860"/>
          </a:xfrm>
          <a:prstGeom prst="roundRect">
            <a:avLst>
              <a:gd name="adj" fmla="val 379446"/>
            </a:avLst>
          </a:prstGeom>
          <a:solidFill>
            <a:srgbClr val="6D4562"/>
          </a:solidFill>
          <a:ln/>
        </p:spPr>
      </p:sp>
      <p:sp>
        <p:nvSpPr>
          <p:cNvPr id="21" name="Shape 18"/>
          <p:cNvSpPr/>
          <p:nvPr/>
        </p:nvSpPr>
        <p:spPr>
          <a:xfrm>
            <a:off x="6312456" y="5619155"/>
            <a:ext cx="464582" cy="464582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7110" y="5679341"/>
            <a:ext cx="275273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2150" dirty="0"/>
          </a:p>
        </p:txBody>
      </p:sp>
      <p:sp>
        <p:nvSpPr>
          <p:cNvPr id="23" name="Text 20"/>
          <p:cNvSpPr/>
          <p:nvPr/>
        </p:nvSpPr>
        <p:spPr>
          <a:xfrm>
            <a:off x="7577376" y="5690116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Year 9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577376" y="6092904"/>
            <a:ext cx="6226969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Significant spike - highest risk point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12456" y="6630829"/>
            <a:ext cx="7491889" cy="96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Long-term customers are disengaging over time due to lack of loyalty rewards, competitive market offerings, and reduced perceived value. The 9th year represents a critical intervention point.</a:t>
            </a:r>
            <a:endParaRPr lang="en-US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1071A67-8C89-F32D-81AD-7FDFBFC3E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8507" y="7778008"/>
            <a:ext cx="1761893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334333"/>
            <a:ext cx="9942076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Geography Analysis: Regional Risk Profile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81063" y="2386846"/>
            <a:ext cx="4142542" cy="2972038"/>
          </a:xfrm>
          <a:prstGeom prst="roundRect">
            <a:avLst>
              <a:gd name="adj" fmla="val 311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8948" y="2614732"/>
            <a:ext cx="660797" cy="660797"/>
          </a:xfrm>
          <a:prstGeom prst="roundRect">
            <a:avLst>
              <a:gd name="adj" fmla="val 13836451"/>
            </a:avLst>
          </a:prstGeom>
          <a:solidFill>
            <a:srgbClr val="A95B9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38" y="2796421"/>
            <a:ext cx="297299" cy="297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8948" y="3495794"/>
            <a:ext cx="2447687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France </a:t>
            </a:r>
            <a:r>
              <a:rPr lang="en-US" sz="19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🇫🇷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08948" y="3941564"/>
            <a:ext cx="368677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~16% churn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08948" y="4426148"/>
            <a:ext cx="368677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Highest customer base with stable market performance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43870" y="2386846"/>
            <a:ext cx="4142542" cy="2972038"/>
          </a:xfrm>
          <a:prstGeom prst="roundRect">
            <a:avLst>
              <a:gd name="adj" fmla="val 311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71755" y="2614732"/>
            <a:ext cx="660797" cy="660797"/>
          </a:xfrm>
          <a:prstGeom prst="roundRect">
            <a:avLst>
              <a:gd name="adj" fmla="val 13836451"/>
            </a:avLst>
          </a:prstGeom>
          <a:solidFill>
            <a:srgbClr val="A95B9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3445" y="2796421"/>
            <a:ext cx="297299" cy="2972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1755" y="3495794"/>
            <a:ext cx="2447687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Germany </a:t>
            </a:r>
            <a:r>
              <a:rPr lang="en-US" sz="19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🇩🇪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471755" y="3941564"/>
            <a:ext cx="368677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~32% churn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71755" y="4426148"/>
            <a:ext cx="368677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Highest and critical - major retention issue requiring immediate action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9606677" y="2386846"/>
            <a:ext cx="4142542" cy="2972038"/>
          </a:xfrm>
          <a:prstGeom prst="roundRect">
            <a:avLst>
              <a:gd name="adj" fmla="val 311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834562" y="2614732"/>
            <a:ext cx="660797" cy="660797"/>
          </a:xfrm>
          <a:prstGeom prst="roundRect">
            <a:avLst>
              <a:gd name="adj" fmla="val 13836451"/>
            </a:avLst>
          </a:prstGeom>
          <a:solidFill>
            <a:srgbClr val="A95B9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6252" y="2796421"/>
            <a:ext cx="297299" cy="2972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34562" y="3495794"/>
            <a:ext cx="2447687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Spain </a:t>
            </a:r>
            <a:r>
              <a:rPr lang="en-US" sz="19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🇪🇸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9834562" y="3941564"/>
            <a:ext cx="368677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~16-17% churn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9834562" y="4426148"/>
            <a:ext cx="368677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Moderate churn levels - manageable risk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881063" y="5606653"/>
            <a:ext cx="12868275" cy="1288494"/>
          </a:xfrm>
          <a:prstGeom prst="roundRect">
            <a:avLst>
              <a:gd name="adj" fmla="val 7181"/>
            </a:avLst>
          </a:prstGeom>
          <a:solidFill>
            <a:srgbClr val="4B3F0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328" y="5933003"/>
            <a:ext cx="275273" cy="2202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96866" y="5881926"/>
            <a:ext cx="1193220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Germany is the primary risk region</a:t>
            </a:r>
            <a:r>
              <a:rPr lang="en-US" sz="17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while France shows strongest retention performance. Geographic targeting strategies must prioritize German market interventions.</a:t>
            </a:r>
            <a:endParaRPr lang="en-US" sz="1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6F7CB97-C7C3-4604-47E6-E30707AE86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68507" y="7778008"/>
            <a:ext cx="1761893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1303853"/>
            <a:ext cx="7381875" cy="122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Demographic Insights: Who's Leaving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67462" y="3078480"/>
            <a:ext cx="2937153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Gender Analysis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367462" y="3665815"/>
            <a:ext cx="342221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Male customers: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~55-57% of churn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67462" y="4216479"/>
            <a:ext cx="342221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Female customers: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~43-45% of churn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67462" y="5119568"/>
            <a:ext cx="342221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Male customers show slightly higher churn behavior, indicating possible differences in expectations or engagement strategies needed.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334744" y="3078480"/>
            <a:ext cx="2937153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Age Group Analysis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334744" y="3665815"/>
            <a:ext cx="342221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Highest churn: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40-50 age group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334744" y="4216479"/>
            <a:ext cx="342221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Moderate: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29-39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334744" y="4767143"/>
            <a:ext cx="342221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Lowest: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18-28 &amp; 70+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334744" y="5317808"/>
            <a:ext cx="342221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Middle-aged customers are financially active, more likely to compare competitors, representing high-value but high-risk segments.</a:t>
            </a:r>
            <a:endParaRPr lang="en-US" sz="1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CC07F9-0E1B-1471-BDAE-0C7204CF5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8507" y="7778008"/>
            <a:ext cx="1761893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3770" y="601147"/>
            <a:ext cx="7409259" cy="120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Credit Score Impact: The Underserved Middle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353770" y="2125742"/>
            <a:ext cx="7409259" cy="1267897"/>
          </a:xfrm>
          <a:prstGeom prst="roundRect">
            <a:avLst>
              <a:gd name="adj" fmla="val 11539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23290" y="2125742"/>
            <a:ext cx="121920" cy="1267897"/>
          </a:xfrm>
          <a:prstGeom prst="roundRect">
            <a:avLst>
              <a:gd name="adj" fmla="val 74703"/>
            </a:avLst>
          </a:prstGeom>
          <a:solidFill>
            <a:srgbClr val="A95B95"/>
          </a:solidFill>
          <a:ln/>
        </p:spPr>
      </p:sp>
      <p:sp>
        <p:nvSpPr>
          <p:cNvPr id="6" name="Text 3"/>
          <p:cNvSpPr/>
          <p:nvPr/>
        </p:nvSpPr>
        <p:spPr>
          <a:xfrm>
            <a:off x="6692503" y="2373035"/>
            <a:ext cx="24094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550-750 Range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92503" y="2802255"/>
            <a:ext cx="6823234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Majority of customers fall within this mid-credit segment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53770" y="3606998"/>
            <a:ext cx="7409259" cy="1267897"/>
          </a:xfrm>
          <a:prstGeom prst="roundRect">
            <a:avLst>
              <a:gd name="adj" fmla="val 11539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23290" y="3606998"/>
            <a:ext cx="121920" cy="1267897"/>
          </a:xfrm>
          <a:prstGeom prst="roundRect">
            <a:avLst>
              <a:gd name="adj" fmla="val 74703"/>
            </a:avLst>
          </a:prstGeom>
          <a:solidFill>
            <a:srgbClr val="A95B95"/>
          </a:solidFill>
          <a:ln/>
        </p:spPr>
      </p:sp>
      <p:sp>
        <p:nvSpPr>
          <p:cNvPr id="10" name="Text 7"/>
          <p:cNvSpPr/>
          <p:nvPr/>
        </p:nvSpPr>
        <p:spPr>
          <a:xfrm>
            <a:off x="6692503" y="3854291"/>
            <a:ext cx="24094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Highest Churn Zone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692503" y="4283512"/>
            <a:ext cx="6823234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same segment shows the highest churn rates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353770" y="5088255"/>
            <a:ext cx="7409259" cy="1267897"/>
          </a:xfrm>
          <a:prstGeom prst="roundRect">
            <a:avLst>
              <a:gd name="adj" fmla="val 11539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23290" y="5088255"/>
            <a:ext cx="121920" cy="1267897"/>
          </a:xfrm>
          <a:prstGeom prst="roundRect">
            <a:avLst>
              <a:gd name="adj" fmla="val 74703"/>
            </a:avLst>
          </a:prstGeom>
          <a:solidFill>
            <a:srgbClr val="A95B95"/>
          </a:solidFill>
          <a:ln/>
        </p:spPr>
      </p:sp>
      <p:sp>
        <p:nvSpPr>
          <p:cNvPr id="14" name="Text 11"/>
          <p:cNvSpPr/>
          <p:nvPr/>
        </p:nvSpPr>
        <p:spPr>
          <a:xfrm>
            <a:off x="6692503" y="5335548"/>
            <a:ext cx="24094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Value Gap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692503" y="5764768"/>
            <a:ext cx="6823234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 not receive premium benefits and are not treated as high-risk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53770" y="6596182"/>
            <a:ext cx="7409259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Mid-credit customers feel underserved, leading to churn. They receive neither the perks of premium customers nor the special attention given to high-risk segments, creating a perception gap in value delivery.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E503CC-6F5C-B1A3-315C-D1A8A3C86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8507" y="7778008"/>
            <a:ext cx="1761893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6056" y="819983"/>
            <a:ext cx="12975431" cy="57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Strategy Paradox: More Products, More Problems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56" y="1780818"/>
            <a:ext cx="6489144" cy="826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2510" y="2800469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 Product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32510" y="3203258"/>
            <a:ext cx="607623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~5,084 customers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32510" y="3639503"/>
            <a:ext cx="607623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~1,409 churns (highest volume)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80818"/>
            <a:ext cx="6489144" cy="8260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21654" y="2800469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 Products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521654" y="3203258"/>
            <a:ext cx="607623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~4,590 customers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521654" y="3639503"/>
            <a:ext cx="607623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~348 churns (lowest churn)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56" y="4166116"/>
            <a:ext cx="6489144" cy="826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2510" y="5185767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 Products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032510" y="5588556"/>
            <a:ext cx="607623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~266 customers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032510" y="6024801"/>
            <a:ext cx="607623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~220 churns (highest rate)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166116"/>
            <a:ext cx="6489144" cy="8260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21654" y="5185767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 Products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7521654" y="5588556"/>
            <a:ext cx="607623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~60 customers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521654" y="6024801"/>
            <a:ext cx="607623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~60 churns (highest rate)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26056" y="6769179"/>
            <a:ext cx="12978289" cy="6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insight:</a:t>
            </a: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Increasing number of products does not guarantee retention. Customers with 3+ products are most likely to churn due to over-selling, poor bundling, complex experiences, or lack of perceived value.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B6E838-2228-AD33-0278-4A58434523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68507" y="7778008"/>
            <a:ext cx="1761893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479113"/>
            <a:ext cx="9671447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Strategic Recommendations: Action Plan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81063" y="2531626"/>
            <a:ext cx="440531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81063" y="2875478"/>
            <a:ext cx="4142542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5" name="Text 3"/>
          <p:cNvSpPr/>
          <p:nvPr/>
        </p:nvSpPr>
        <p:spPr>
          <a:xfrm>
            <a:off x="881063" y="3046571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Retention Strategy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81063" y="3484721"/>
            <a:ext cx="4142542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Introduce loyalty rewards after 5+ years and target 9-year tenure customers with retention campaigns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43870" y="2531626"/>
            <a:ext cx="440531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43870" y="2875478"/>
            <a:ext cx="4142542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9" name="Text 7"/>
          <p:cNvSpPr/>
          <p:nvPr/>
        </p:nvSpPr>
        <p:spPr>
          <a:xfrm>
            <a:off x="5243870" y="3046571"/>
            <a:ext cx="2888694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Segmentation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243870" y="3484721"/>
            <a:ext cx="4142542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Personalized offers for age 40-50, male customers, and credit score 550-750 segments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6677" y="2531626"/>
            <a:ext cx="440531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6677" y="2875478"/>
            <a:ext cx="4142542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6677" y="3046571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Geography Focus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06677" y="3484721"/>
            <a:ext cx="4142542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Localized offers, competitor benchmarking, and customer feedback programs for Germany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1063" y="4927402"/>
            <a:ext cx="440531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81063" y="5271254"/>
            <a:ext cx="6323886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7" name="Text 15"/>
          <p:cNvSpPr/>
          <p:nvPr/>
        </p:nvSpPr>
        <p:spPr>
          <a:xfrm>
            <a:off x="881063" y="5442347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Strategy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81063" y="5880497"/>
            <a:ext cx="63238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Focus on value-driven bundling, improve cross-sell quality, simplify product usage, move toward 2-product optimal zone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25214" y="4927402"/>
            <a:ext cx="440531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425214" y="5271254"/>
            <a:ext cx="6324005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1" name="Text 19"/>
          <p:cNvSpPr/>
          <p:nvPr/>
        </p:nvSpPr>
        <p:spPr>
          <a:xfrm>
            <a:off x="7425214" y="5442347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Engagement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25214" y="5880497"/>
            <a:ext cx="632400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Increase active members beyond 51% through improved digital experience and usability</a:t>
            </a:r>
            <a:endParaRPr lang="en-US" sz="17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38A8110-F9AB-8782-5498-C929DA177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8507" y="7778008"/>
            <a:ext cx="1761893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1530310"/>
            <a:ext cx="6235779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Dashboard Design System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67462" y="2692956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Color &amp; Typography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67462" y="3219212"/>
            <a:ext cx="3422213" cy="312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Primary: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Soft Pink (#A95B95) for churn highlights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Secondary: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Grey for comparison values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Background: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Light neutral tones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Accent: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Beige/Gold for headers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Typography: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Clean sans-serif (Segoe UI/Poppins)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34744" y="2692956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Visuals &amp; Layout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334744" y="3219212"/>
            <a:ext cx="3422213" cy="340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Donut Charts: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Churn proportion analysis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Bar Charts: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Product distribution &amp; churn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KPI Cards: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Summary metrics display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Structure: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Title + filters at top, key visuals middle, insights bottom</a:t>
            </a: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BAF3F2-7D67-2182-15A2-30BEB2B3B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8507" y="7778008"/>
            <a:ext cx="1761893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84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2323" y="713065"/>
            <a:ext cx="7616547" cy="49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Business Problems &amp; Final Insights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202323" y="1428393"/>
            <a:ext cx="7712154" cy="968216"/>
          </a:xfrm>
          <a:prstGeom prst="roundRect">
            <a:avLst>
              <a:gd name="adj" fmla="val 776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88894" y="1614964"/>
            <a:ext cx="1988701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Germany Crisis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88894" y="1950601"/>
            <a:ext cx="7339012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32% churn rate requires immediate geographic intervention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02323" y="2541984"/>
            <a:ext cx="7712154" cy="968216"/>
          </a:xfrm>
          <a:prstGeom prst="roundRect">
            <a:avLst>
              <a:gd name="adj" fmla="val 776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8894" y="2728555"/>
            <a:ext cx="1988701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Long-Term Loss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388894" y="3064193"/>
            <a:ext cx="7339012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Customers leaving after 9 years indicate weak loyalty programs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02323" y="3655576"/>
            <a:ext cx="7712154" cy="968216"/>
          </a:xfrm>
          <a:prstGeom prst="roundRect">
            <a:avLst>
              <a:gd name="adj" fmla="val 776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8894" y="3842147"/>
            <a:ext cx="1988701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Mid-Credit Gap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388894" y="4177784"/>
            <a:ext cx="7339012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Underserved segment feels neither premium nor high-risk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02323" y="4769168"/>
            <a:ext cx="7712154" cy="968216"/>
          </a:xfrm>
          <a:prstGeom prst="roundRect">
            <a:avLst>
              <a:gd name="adj" fmla="val 776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8894" y="4955738"/>
            <a:ext cx="1988701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Paradox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388894" y="5291376"/>
            <a:ext cx="7339012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More products increase churn rather than retention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02323" y="5945624"/>
            <a:ext cx="7712154" cy="13335"/>
          </a:xfrm>
          <a:prstGeom prst="rect">
            <a:avLst/>
          </a:prstGeom>
          <a:solidFill>
            <a:srgbClr val="DAD8E9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202323" y="6221730"/>
            <a:ext cx="240422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Biggest Opportunity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6202323" y="6738104"/>
            <a:ext cx="7712154" cy="77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Strengthening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customer retention strategies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improving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product value and bundling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and targeting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high-risk segments effectively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will drive measurable churn reduction. The 2-product segment represents the optimal balance between engagement and satisfaction.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FB5BB15-E715-35E9-B9DB-F2B2913C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8507" y="7778008"/>
            <a:ext cx="1761893" cy="4343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728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Prompt Medium</vt:lpstr>
      <vt:lpstr>Arial</vt:lpstr>
      <vt:lpstr>Prompt Light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Akshay Malik</cp:lastModifiedBy>
  <cp:revision>3</cp:revision>
  <dcterms:created xsi:type="dcterms:W3CDTF">2026-05-01T20:41:01Z</dcterms:created>
  <dcterms:modified xsi:type="dcterms:W3CDTF">2026-05-01T20:54:07Z</dcterms:modified>
</cp:coreProperties>
</file>